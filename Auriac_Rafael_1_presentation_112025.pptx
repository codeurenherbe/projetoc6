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y="5143500" cx="9144000"/>
  <p:notesSz cx="6858000" cy="9144000"/>
  <p:embeddedFontLst>
    <p:embeddedFont>
      <p:font typeface="Montserrat"/>
      <p:regular r:id="rId23"/>
      <p:bold r:id="rId24"/>
      <p:italic r:id="rId25"/>
      <p:boldItalic r:id="rId26"/>
    </p:embeddedFont>
    <p:embeddedFont>
      <p:font typeface="Lato"/>
      <p:regular r:id="rId27"/>
      <p:bold r:id="rId28"/>
      <p:italic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9DA66E-F209-4446-BEC5-7B6D94F0EA4C}">
  <a:tblStyle styleId="{B89DA66E-F209-4446-BEC5-7B6D94F0EA4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Montserrat-bold.fntdata"/><Relationship Id="rId23" Type="http://schemas.openxmlformats.org/officeDocument/2006/relationships/font" Target="fonts/Montserrat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Montserrat-boldItalic.fntdata"/><Relationship Id="rId25" Type="http://schemas.openxmlformats.org/officeDocument/2006/relationships/font" Target="fonts/Montserrat-italic.fntdata"/><Relationship Id="rId28" Type="http://schemas.openxmlformats.org/officeDocument/2006/relationships/font" Target="fonts/Lato-bold.fntdata"/><Relationship Id="rId27" Type="http://schemas.openxmlformats.org/officeDocument/2006/relationships/font" Target="fonts/Lato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Lato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schemas.openxmlformats.org/officeDocument/2006/relationships/font" Target="fonts/Lato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c218990c3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8c218990c3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8c218990c3_0_2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8c218990c3_0_2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8c218990c3_0_2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8c218990c3_0_2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8c218990c3_0_2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8c218990c3_0_2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9bc411db77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9bc411db77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8c218990c3_0_2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8c218990c3_0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8c218990c3_0_2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8c218990c3_0_2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9bc411db7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9bc411db7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9bc411db7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9bc411db7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a2090351f2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a2090351f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a2090351f2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a2090351f2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9bc411db7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9bc411db7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9bc411db77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9bc411db77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9bc411db77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9bc411db77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9bc411db77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9bc411db77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/>
        </p:nvSpPr>
        <p:spPr>
          <a:xfrm>
            <a:off x="1297500" y="393750"/>
            <a:ext cx="7038900" cy="9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34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Sommaire</a:t>
            </a:r>
            <a:endParaRPr sz="34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1" name="Google Shape;141;p14"/>
          <p:cNvSpPr txBox="1"/>
          <p:nvPr/>
        </p:nvSpPr>
        <p:spPr>
          <a:xfrm>
            <a:off x="1297500" y="1567550"/>
            <a:ext cx="7038900" cy="29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-357822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Lato"/>
              <a:buAutoNum type="arabicPeriod"/>
            </a:pPr>
            <a:r>
              <a:rPr lang="fr" sz="2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Contexte et problématique</a:t>
            </a:r>
            <a:endParaRPr sz="220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  <a:p>
            <a:pPr indent="-357822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Lato"/>
              <a:buAutoNum type="arabicPeriod"/>
            </a:pPr>
            <a:r>
              <a:rPr lang="fr" sz="2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Notebook de référence &amp; modélisation</a:t>
            </a:r>
            <a:endParaRPr sz="220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  <a:p>
            <a:pPr indent="-357822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Lato"/>
              <a:buAutoNum type="arabicPeriod"/>
            </a:pPr>
            <a:r>
              <a:rPr lang="fr" sz="2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Point CI</a:t>
            </a:r>
            <a:endParaRPr sz="220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  <a:p>
            <a:pPr indent="-357822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Lato"/>
              <a:buAutoNum type="arabicPeriod"/>
            </a:pPr>
            <a:r>
              <a:rPr lang="fr" sz="220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Conclusions</a:t>
            </a:r>
            <a:endParaRPr sz="220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Contexte et problématique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fr" sz="1770"/>
              <a:t>Contexte</a:t>
            </a:r>
            <a:endParaRPr b="1" sz="1770"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fr" sz="1308"/>
              <a:t>L’entreprise </a:t>
            </a:r>
            <a:r>
              <a:rPr b="1" lang="fr" sz="1308"/>
              <a:t>"Prêt à dépenser"</a:t>
            </a:r>
            <a:r>
              <a:rPr lang="fr" sz="1308"/>
              <a:t>, spécialisée dans les crédits à la consommation pour des clients avec peu d’historique bancaire, souhaite développer un </a:t>
            </a:r>
            <a:r>
              <a:rPr b="1" lang="fr" sz="1308"/>
              <a:t>outil de scoring crédit</a:t>
            </a:r>
            <a:r>
              <a:rPr lang="fr" sz="1308"/>
              <a:t> fiable et transparent.</a:t>
            </a:r>
            <a:br>
              <a:rPr lang="fr" sz="1308"/>
            </a:br>
            <a:r>
              <a:rPr lang="fr" sz="1308"/>
              <a:t> L’objectif est d’automatiser la </a:t>
            </a:r>
            <a:r>
              <a:rPr b="1" lang="fr" sz="1308"/>
              <a:t>décision d’octroi de crédit</a:t>
            </a:r>
            <a:r>
              <a:rPr lang="fr" sz="1308"/>
              <a:t> tout en </a:t>
            </a:r>
            <a:r>
              <a:rPr b="1" lang="fr" sz="1308"/>
              <a:t>limitant les risques de défaut</a:t>
            </a:r>
            <a:r>
              <a:rPr lang="fr" sz="1308"/>
              <a:t> et en </a:t>
            </a:r>
            <a:r>
              <a:rPr b="1" lang="fr" sz="1308"/>
              <a:t>expliquant les décisions du modèle</a:t>
            </a:r>
            <a:r>
              <a:rPr lang="fr" sz="1308"/>
              <a:t>.</a:t>
            </a:r>
            <a:endParaRPr sz="1308"/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fr" sz="1770"/>
              <a:t>Problématique</a:t>
            </a:r>
            <a:endParaRPr b="1" sz="1770"/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8"/>
              <a:t>Comment concevoir, évaluer et déployer un modèle de scoring crédit robuste et explicable</a:t>
            </a:r>
            <a:r>
              <a:rPr lang="fr" sz="1308"/>
              <a:t>,</a:t>
            </a:r>
            <a:br>
              <a:rPr lang="fr" sz="1308"/>
            </a:br>
            <a:r>
              <a:rPr lang="fr" sz="1308"/>
              <a:t> </a:t>
            </a:r>
            <a:r>
              <a:rPr b="1" lang="fr" sz="1308"/>
              <a:t>capable de prédire la probabilité de remboursement d’un client</a:t>
            </a:r>
            <a:r>
              <a:rPr lang="fr" sz="1308"/>
              <a:t>,</a:t>
            </a:r>
            <a:br>
              <a:rPr lang="fr" sz="1308"/>
            </a:br>
            <a:r>
              <a:rPr lang="fr" sz="1308"/>
              <a:t> tout en intégrant une </a:t>
            </a:r>
            <a:r>
              <a:rPr b="1" lang="fr" sz="1308"/>
              <a:t>approche MLOps</a:t>
            </a:r>
            <a:r>
              <a:rPr lang="fr" sz="1308"/>
              <a:t> pour assurer le </a:t>
            </a:r>
            <a:r>
              <a:rPr b="1" lang="fr" sz="1308"/>
              <a:t>suivi, la reproductibilité et l’amélioration continue</a:t>
            </a:r>
            <a:r>
              <a:rPr lang="fr" sz="1308"/>
              <a:t> du modèle ?</a:t>
            </a:r>
            <a:endParaRPr sz="1308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Notebook de référence &amp; modélisation: Données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6"/>
          <p:cNvSpPr txBox="1"/>
          <p:nvPr>
            <p:ph idx="1" type="body"/>
          </p:nvPr>
        </p:nvSpPr>
        <p:spPr>
          <a:xfrm>
            <a:off x="1297500" y="1486375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Notebook base: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fr"/>
              <a:t>Les données qui vont nous intéresser sont dans la table ‘</a:t>
            </a:r>
            <a:r>
              <a:rPr lang="fr"/>
              <a:t>application_{train|test}.csv’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fr"/>
              <a:t>C’est la table principale, divisée en deux fichiers 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i="1" lang="fr"/>
              <a:t>application_train.csv </a:t>
            </a:r>
            <a:r>
              <a:rPr lang="fr"/>
              <a:t>: contient la variable cible TARGET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i="1" lang="fr"/>
              <a:t>application_test.csv </a:t>
            </a:r>
            <a:r>
              <a:rPr lang="fr"/>
              <a:t>: sans la variable TARGET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fr"/>
              <a:t>Chaque ligne représente un prêt accordé (une demande de crédit)</a:t>
            </a:r>
            <a:br>
              <a:rPr lang="fr"/>
            </a:b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/>
          <p:nvPr>
            <p:ph type="title"/>
          </p:nvPr>
        </p:nvSpPr>
        <p:spPr>
          <a:xfrm>
            <a:off x="1282425" y="4062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Notebook de référence &amp; modélisation: Feature engineering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7"/>
          <p:cNvSpPr txBox="1"/>
          <p:nvPr>
            <p:ph idx="1" type="body"/>
          </p:nvPr>
        </p:nvSpPr>
        <p:spPr>
          <a:xfrm>
            <a:off x="771250" y="1541250"/>
            <a:ext cx="7913100" cy="232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/>
              <a:t>Création</a:t>
            </a:r>
            <a:r>
              <a:rPr lang="fr" sz="1500"/>
              <a:t> de feature dites </a:t>
            </a:r>
            <a:r>
              <a:rPr i="1" lang="fr" sz="1500"/>
              <a:t>“</a:t>
            </a:r>
            <a:r>
              <a:rPr b="1" i="1" lang="fr" sz="1500"/>
              <a:t>de domaine</a:t>
            </a:r>
            <a:r>
              <a:rPr i="1" lang="fr" sz="1500"/>
              <a:t>”</a:t>
            </a:r>
            <a:endParaRPr i="1" sz="1500"/>
          </a:p>
          <a:p>
            <a:pPr indent="45720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i="1" lang="fr" sz="1100"/>
              <a:t>Création de quelques variables censées refléter des facteurs importants pour prédire si un client risque de ne pas rembourser son prêt. (inspiré d’un script tiers)</a:t>
            </a:r>
            <a:endParaRPr i="1" sz="1100"/>
          </a:p>
          <a:p>
            <a:pPr indent="-298450" lvl="0" marL="914400" rtl="0" algn="l">
              <a:spcBef>
                <a:spcPts val="1200"/>
              </a:spcBef>
              <a:spcAft>
                <a:spcPts val="0"/>
              </a:spcAft>
              <a:buSzPts val="1100"/>
              <a:buChar char="-"/>
            </a:pPr>
            <a:r>
              <a:rPr b="1" lang="fr" sz="1100"/>
              <a:t>CREDIT_INCOME_PERCENT </a:t>
            </a:r>
            <a:r>
              <a:rPr lang="fr" sz="1100"/>
              <a:t>: pourcentage du montant du crédit par rapport au revenu du client</a:t>
            </a:r>
            <a:endParaRPr sz="1100"/>
          </a:p>
          <a:p>
            <a:pPr indent="-298450" lvl="0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b="1" lang="fr" sz="1100"/>
              <a:t>ANNUITY_INCOME_PERCENT </a:t>
            </a:r>
            <a:r>
              <a:rPr lang="fr" sz="1100"/>
              <a:t>: pourcentage du montant de l’annuité du prêt par rapport au revenu du client</a:t>
            </a:r>
            <a:endParaRPr sz="1100"/>
          </a:p>
          <a:p>
            <a:pPr indent="-298450" lvl="0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b="1" lang="fr" sz="1100"/>
              <a:t>CREDIT_TERM </a:t>
            </a:r>
            <a:r>
              <a:rPr lang="fr" sz="1100"/>
              <a:t>: durée totale du remboursement en mois (l’annuité correspondant au montant mensuel à payer)</a:t>
            </a:r>
            <a:endParaRPr sz="1100"/>
          </a:p>
          <a:p>
            <a:pPr indent="-298450" lvl="0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b="1" lang="fr" sz="1100"/>
              <a:t>DAYS_EMPLOYED_PERCENT </a:t>
            </a:r>
            <a:r>
              <a:rPr lang="fr" sz="1100"/>
              <a:t>: pourcentage du nombre de jours travaillés par rapport à l’âge du client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Notebook de référence &amp; modélisation: Feature engineering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8"/>
          <p:cNvSpPr txBox="1"/>
          <p:nvPr>
            <p:ph idx="1" type="body"/>
          </p:nvPr>
        </p:nvSpPr>
        <p:spPr>
          <a:xfrm>
            <a:off x="1297500" y="1567550"/>
            <a:ext cx="7038900" cy="240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/>
              <a:t>Création de feature dites </a:t>
            </a:r>
            <a:r>
              <a:rPr i="1" lang="fr" sz="1500"/>
              <a:t>“</a:t>
            </a:r>
            <a:r>
              <a:rPr b="1" i="1" lang="fr" sz="1500"/>
              <a:t>polynomiales</a:t>
            </a:r>
            <a:r>
              <a:rPr i="1" lang="fr" sz="1500"/>
              <a:t>”</a:t>
            </a:r>
            <a:endParaRPr i="1"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i="1" lang="fr" sz="1100"/>
              <a:t>Ces  features consistent à créer de nouvelles variables en combinant les puissances et interactions des variables existantes (ex: EXT_SOURCE_1 × EXT_SOURCE_2²). Ces termes d’interaction permettent de capturer les effets combinés entre variables, pouvant révéler des relations non linéaires avec la cible.</a:t>
            </a:r>
            <a:endParaRPr i="1" sz="1100"/>
          </a:p>
          <a:p>
            <a:pPr indent="-298450" lvl="0" marL="914400" rtl="0" algn="l">
              <a:spcBef>
                <a:spcPts val="1200"/>
              </a:spcBef>
              <a:spcAft>
                <a:spcPts val="0"/>
              </a:spcAft>
              <a:buSzPts val="1100"/>
              <a:buChar char="-"/>
            </a:pPr>
            <a:r>
              <a:rPr b="1" lang="fr" sz="1100"/>
              <a:t>EXT_SOURCE_1 DAYS_BIRTH</a:t>
            </a:r>
            <a:r>
              <a:rPr lang="fr" sz="1100"/>
              <a:t>: produit des valeurs EXT_SOURCE_1 et DAYS_BIRTH</a:t>
            </a:r>
            <a:endParaRPr sz="1100"/>
          </a:p>
          <a:p>
            <a:pPr indent="-298450" lvl="0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b="1" lang="fr" sz="1100"/>
              <a:t>EXT_SOURCE_2^2</a:t>
            </a:r>
            <a:r>
              <a:rPr lang="fr" sz="1100"/>
              <a:t>: valeurs EXT_SOURCE_2 au carré</a:t>
            </a:r>
            <a:endParaRPr sz="1100"/>
          </a:p>
          <a:p>
            <a:pPr indent="-298450" lvl="0" marL="9144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fr" sz="1100"/>
              <a:t>…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Modélisation</a:t>
            </a:r>
            <a:endParaRPr/>
          </a:p>
        </p:txBody>
      </p:sp>
      <p:sp>
        <p:nvSpPr>
          <p:cNvPr id="171" name="Google Shape;171;p1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Création d’une fonction custom business score inspiré d’un scorer de churn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72" name="Google Shape;17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4525" y="2120274"/>
            <a:ext cx="6054849" cy="2568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Modélisation</a:t>
            </a:r>
            <a:endParaRPr/>
          </a:p>
        </p:txBody>
      </p:sp>
      <p:sp>
        <p:nvSpPr>
          <p:cNvPr id="178" name="Google Shape;178;p20"/>
          <p:cNvSpPr txBox="1"/>
          <p:nvPr>
            <p:ph idx="1" type="body"/>
          </p:nvPr>
        </p:nvSpPr>
        <p:spPr>
          <a:xfrm>
            <a:off x="1297500" y="1567550"/>
            <a:ext cx="77133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2 modèles: Régression Linéaire, Random Forest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fr"/>
              <a:t>3 datasets: dataset “de base”, dataset base + feature polynomiales, dataset base + domain features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fr"/>
              <a:t>Pipeline: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fr"/>
              <a:t>	-&gt; Split train test des datasets</a:t>
            </a:r>
            <a:endParaRPr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fr"/>
              <a:t>-&gt;  Entrainer le modèle avec grid_cv afin de trouver les meilleurs hyperparametres</a:t>
            </a:r>
            <a:endParaRPr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fr"/>
              <a:t>-&gt;  Log les metriques dans MLFlow</a:t>
            </a:r>
            <a:endParaRPr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fr"/>
              <a:t>-&gt; Recherche du meilleur seuil avec le dataset de test avec la </a:t>
            </a:r>
            <a:r>
              <a:rPr lang="fr"/>
              <a:t>métrique</a:t>
            </a:r>
            <a:r>
              <a:rPr lang="fr"/>
              <a:t> AUC  calculée lors de la phase de validation</a:t>
            </a:r>
            <a:endParaRPr/>
          </a:p>
          <a:p>
            <a:pPr indent="45720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Modélisation: résultats </a:t>
            </a:r>
            <a:endParaRPr/>
          </a:p>
        </p:txBody>
      </p:sp>
      <p:graphicFrame>
        <p:nvGraphicFramePr>
          <p:cNvPr id="184" name="Google Shape;184;p21"/>
          <p:cNvGraphicFramePr/>
          <p:nvPr/>
        </p:nvGraphicFramePr>
        <p:xfrm>
          <a:off x="1097400" y="1903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{B89DA66E-F209-4446-BEC5-7B6D94F0EA4C}</a:tableStyleId>
              </a:tblPr>
              <a:tblGrid>
                <a:gridCol w="2636750"/>
                <a:gridCol w="1413050"/>
                <a:gridCol w="1634950"/>
                <a:gridCol w="1554250"/>
              </a:tblGrid>
              <a:tr h="829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lt1"/>
                          </a:solidFill>
                        </a:rPr>
                        <a:t>AUC (validation)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lt1"/>
                          </a:solidFill>
                        </a:rPr>
                        <a:t>Dataset 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lt1"/>
                          </a:solidFill>
                        </a:rPr>
                        <a:t>“de base” (baseline)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lt1"/>
                          </a:solidFill>
                        </a:rPr>
                        <a:t>Dataset features domaine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lt1"/>
                          </a:solidFill>
                        </a:rPr>
                        <a:t>Dataset feature polynomiales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lt1"/>
                          </a:solidFill>
                        </a:rPr>
                        <a:t>Régression</a:t>
                      </a:r>
                      <a:r>
                        <a:rPr lang="fr">
                          <a:solidFill>
                            <a:schemeClr val="lt1"/>
                          </a:solidFill>
                        </a:rPr>
                        <a:t> logistique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lt1"/>
                          </a:solidFill>
                        </a:rPr>
                        <a:t>0.75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lt1"/>
                          </a:solidFill>
                        </a:rPr>
                        <a:t>0.75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lt1"/>
                          </a:solidFill>
                        </a:rPr>
                        <a:t>0.41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lt1"/>
                          </a:solidFill>
                        </a:rPr>
                        <a:t>RandomForest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lt1"/>
                          </a:solidFill>
                        </a:rPr>
                        <a:t>0.69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lt1"/>
                          </a:solidFill>
                        </a:rPr>
                        <a:t>0.69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>
                          <a:solidFill>
                            <a:schemeClr val="lt1"/>
                          </a:solidFill>
                        </a:rPr>
                        <a:t>0.56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Modélisation: feature importance </a:t>
            </a:r>
            <a:endParaRPr/>
          </a:p>
        </p:txBody>
      </p:sp>
      <p:sp>
        <p:nvSpPr>
          <p:cNvPr id="190" name="Google Shape;190;p22"/>
          <p:cNvSpPr txBox="1"/>
          <p:nvPr>
            <p:ph idx="1" type="body"/>
          </p:nvPr>
        </p:nvSpPr>
        <p:spPr>
          <a:xfrm>
            <a:off x="1297500" y="1278450"/>
            <a:ext cx="7038900" cy="3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fr"/>
              <a:t>Notre modèle le plus performant est </a:t>
            </a:r>
            <a:r>
              <a:rPr lang="fr"/>
              <a:t>Régression</a:t>
            </a:r>
            <a:r>
              <a:rPr lang="fr"/>
              <a:t> Logistique sur le dataset connaissance domaine</a:t>
            </a:r>
            <a:endParaRPr/>
          </a:p>
        </p:txBody>
      </p:sp>
      <p:pic>
        <p:nvPicPr>
          <p:cNvPr id="191" name="Google Shape;19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0" y="1856300"/>
            <a:ext cx="3210150" cy="2540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60050" y="1856300"/>
            <a:ext cx="3710116" cy="2540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Modélisation: feature importance sur les features domaine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3"/>
          <p:cNvSpPr txBox="1"/>
          <p:nvPr>
            <p:ph idx="1" type="body"/>
          </p:nvPr>
        </p:nvSpPr>
        <p:spPr>
          <a:xfrm>
            <a:off x="1297500" y="3171425"/>
            <a:ext cx="7038900" cy="13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fr"/>
              <a:t>-&gt; Les domain features on peu d’impact sur la prédiction</a:t>
            </a:r>
            <a:endParaRPr/>
          </a:p>
        </p:txBody>
      </p:sp>
      <p:pic>
        <p:nvPicPr>
          <p:cNvPr id="199" name="Google Shape;19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6325" y="1769500"/>
            <a:ext cx="3590207" cy="122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18650" y="1769499"/>
            <a:ext cx="3764375" cy="1223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Modélisation: interpretation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fr"/>
              <a:t>Visiblement le notebook de base </a:t>
            </a:r>
            <a:r>
              <a:rPr lang="fr"/>
              <a:t>enlève</a:t>
            </a:r>
            <a:r>
              <a:rPr lang="fr"/>
              <a:t> certains colonnes du dataset baseline et ajoute les poly les colonnes </a:t>
            </a:r>
            <a:r>
              <a:rPr lang="fr"/>
              <a:t>retirées</a:t>
            </a:r>
            <a:r>
              <a:rPr lang="fr"/>
              <a:t> sont ['EXT_SOURCE_1', 'EXT_SOURCE_2', 'EXT_SOURCE_3', 'DAYS_BIRTH']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Modélisation: data drift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5"/>
          <p:cNvSpPr txBox="1"/>
          <p:nvPr>
            <p:ph idx="1" type="body"/>
          </p:nvPr>
        </p:nvSpPr>
        <p:spPr>
          <a:xfrm>
            <a:off x="1297500" y="2024400"/>
            <a:ext cx="7038900" cy="260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Calcul du </a:t>
            </a:r>
            <a:r>
              <a:rPr i="1" lang="fr"/>
              <a:t>data drift </a:t>
            </a:r>
            <a:r>
              <a:rPr lang="fr"/>
              <a:t>avec “Evidently”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fr"/>
              <a:t>du drift a </a:t>
            </a:r>
            <a:r>
              <a:rPr lang="fr"/>
              <a:t>été</a:t>
            </a:r>
            <a:r>
              <a:rPr lang="fr"/>
              <a:t> identifié sur 32 colonnes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fr"/>
              <a:t>Le data drift dans Evidently est calculé en comparant la distribution des variables entre un jeu de référence (données historiques) et un jeu courant (nouvelles données) et estime si la distribution a significativement changé (Kolmogorov–Smirnov ou chi² 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fr"/>
              <a:t>Une bonne piste pour gérer le drift est de mettre en place un système de surveillance continue : si le score de drift dépasse un seuil défini (par exemple 0.5 ou 0.7 selon la métrique), on peut déclencher automatiquement un réentraînement du modèle avec des données récentes.</a:t>
            </a:r>
            <a:endParaRPr/>
          </a:p>
        </p:txBody>
      </p:sp>
      <p:pic>
        <p:nvPicPr>
          <p:cNvPr id="213" name="Google Shape;21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0" y="1143398"/>
            <a:ext cx="5904599" cy="726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Pipeline CI/CD</a:t>
            </a:r>
            <a:endParaRPr/>
          </a:p>
        </p:txBody>
      </p:sp>
      <p:sp>
        <p:nvSpPr>
          <p:cNvPr id="219" name="Google Shape;219;p26"/>
          <p:cNvSpPr txBox="1"/>
          <p:nvPr>
            <p:ph idx="1" type="body"/>
          </p:nvPr>
        </p:nvSpPr>
        <p:spPr>
          <a:xfrm>
            <a:off x="1297500" y="1567550"/>
            <a:ext cx="7038900" cy="41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Diagramme de la pipeline CI / CD</a:t>
            </a:r>
            <a:endParaRPr/>
          </a:p>
        </p:txBody>
      </p:sp>
      <p:pic>
        <p:nvPicPr>
          <p:cNvPr id="220" name="Google Shape;220;p26" title="flow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21968" y="2019800"/>
            <a:ext cx="3594026" cy="14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21975" y="4141351"/>
            <a:ext cx="6536050" cy="4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6"/>
          <p:cNvSpPr txBox="1"/>
          <p:nvPr>
            <p:ph idx="1" type="body"/>
          </p:nvPr>
        </p:nvSpPr>
        <p:spPr>
          <a:xfrm>
            <a:off x="1297500" y="3683525"/>
            <a:ext cx="7038900" cy="41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Config du </a:t>
            </a:r>
            <a:r>
              <a:rPr lang="fr"/>
              <a:t>serveur</a:t>
            </a:r>
            <a:r>
              <a:rPr lang="fr"/>
              <a:t> render (ajouter les log du run build avec les tests)</a:t>
            </a:r>
            <a:endParaRPr/>
          </a:p>
        </p:txBody>
      </p:sp>
      <p:pic>
        <p:nvPicPr>
          <p:cNvPr id="223" name="Google Shape;223;p26" title="flo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1953" y="2019800"/>
            <a:ext cx="3594071" cy="140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7"/>
          <p:cNvSpPr txBox="1"/>
          <p:nvPr>
            <p:ph type="title"/>
          </p:nvPr>
        </p:nvSpPr>
        <p:spPr>
          <a:xfrm>
            <a:off x="823850" y="1284675"/>
            <a:ext cx="6257400" cy="259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Demo d’appel api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Conclusions</a:t>
            </a:r>
            <a:endParaRPr/>
          </a:p>
        </p:txBody>
      </p:sp>
      <p:sp>
        <p:nvSpPr>
          <p:cNvPr id="234" name="Google Shape;234;p2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Récupération d’un kernel, exploration du feature engineering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Tests de modèles avec les différents datasets, évaluations et investigations des résultats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Mise en place d’un </a:t>
            </a:r>
            <a:r>
              <a:rPr lang="fr"/>
              <a:t>environnement CI/CD avec déploiement d’une API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Test de l’API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Feature engineering relativement peu impactant, améliorations possibles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fr"/>
              <a:t>Changer de pipeline CI / CD pour une meilleure intégration des tests</a:t>
            </a:r>
            <a:endParaRPr/>
          </a:p>
          <a:p>
            <a:pPr indent="0" lvl="0" marL="9144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